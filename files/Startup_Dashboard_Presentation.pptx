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42C5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42C53"/>
                </a:solidFill>
                <a:latin typeface="Arial"/>
              </a:rPr>
              <a:t>Top 10 Brands by Purchases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Purchases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6F1F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Samsung</c:v>
                  </c:pt>
                  <c:pt idx="1">
                    <c:v>Apple</c:v>
                  </c:pt>
                  <c:pt idx="2">
                    <c:v>Xiaomi</c:v>
                  </c:pt>
                  <c:pt idx="3">
                    <c:v>Lucente</c:v>
                  </c:pt>
                  <c:pt idx="4">
                    <c:v>Unknown</c:v>
                  </c:pt>
                  <c:pt idx="5">
                    <c:v>OPPO</c:v>
                  </c:pt>
                  <c:pt idx="6">
                    <c:v>Vitek</c:v>
                  </c:pt>
                  <c:pt idx="7">
                    <c:v>Artel</c:v>
                  </c:pt>
                  <c:pt idx="8">
                    <c:v>LG</c:v>
                  </c:pt>
                  <c:pt idx="9">
                    <c:v>Sony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614</c:v>
                </c:pt>
                <c:pt idx="1">
                  <c:v>446</c:v>
                </c:pt>
                <c:pt idx="2">
                  <c:v>240</c:v>
                </c:pt>
                <c:pt idx="3">
                  <c:v>56</c:v>
                </c:pt>
                <c:pt idx="4">
                  <c:v>225</c:v>
                </c:pt>
                <c:pt idx="5">
                  <c:v>29</c:v>
                </c:pt>
                <c:pt idx="6">
                  <c:v>27</c:v>
                </c:pt>
                <c:pt idx="7">
                  <c:v>26</c:v>
                </c:pt>
                <c:pt idx="8">
                  <c:v>25</c:v>
                </c:pt>
                <c:pt idx="9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42C5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42C53"/>
                </a:solidFill>
                <a:latin typeface="Arial"/>
              </a:rPr>
              <a:t>Top 5 Categories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D4F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0E4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construction.tools.light</c:v>
                  </c:pt>
                  <c:pt idx="1">
                    <c:v>appliances.massager</c:v>
                  </c:pt>
                  <c:pt idx="2">
                    <c:v>electronics.headphone</c:v>
                  </c:pt>
                  <c:pt idx="3">
                    <c:v>kitchen.refrigerators</c:v>
                  </c:pt>
                  <c:pt idx="4">
                    <c:v>sport.bicycle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476059</c:v>
                </c:pt>
                <c:pt idx="1">
                  <c:v>31853</c:v>
                </c:pt>
                <c:pt idx="2">
                  <c:v>21144</c:v>
                </c:pt>
                <c:pt idx="3">
                  <c:v>20070</c:v>
                </c:pt>
                <c:pt idx="4">
                  <c:v>13832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42C5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42C53"/>
                </a:solidFill>
                <a:latin typeface="Arial"/>
              </a:rPr>
              <a:t>Buyer Retention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A7517"/>
              </a:solidFill>
              <a:effectLst/>
            </c:spPr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One-time Buyers (82.1%)</c:v>
                </c:pt>
                <c:pt idx="1">
                  <c:v>Repeat Buyers (17.9%)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1555</c:v>
                </c:pt>
                <c:pt idx="1">
                  <c:v>339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GROWTH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+ Analyst Portfolio Project  |  February 2020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173,198 Events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 E-commerce Data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Power BI + DAX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20040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5.13%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View → Purchase Conversion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initiative should move this number.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94.87% of visitors leave without buying.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645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1645920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0058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visitors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11096" y="777240"/>
            <a:ext cx="1645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11096" y="777240"/>
            <a:ext cx="164592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11096" y="10058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2,418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11096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11096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85032" y="777240"/>
            <a:ext cx="1645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85032" y="777240"/>
            <a:ext cx="1645920" cy="1097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0058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$697K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85032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85032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58968" y="777240"/>
            <a:ext cx="1645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8968" y="777240"/>
            <a:ext cx="164592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10058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58968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58968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777240"/>
            <a:ext cx="1645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32904" y="777240"/>
            <a:ext cx="1645920" cy="10972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2904" y="10058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232904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Buyer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32904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metric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14.85%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5720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→ Cart 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246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9184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34.55%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329184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→ Purchase 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24612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26480" y="3337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5.13%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612648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Conversion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FUNNEL — WHERE USERS DROP OFF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822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8229600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0" y="822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36,949  (100%)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2057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148840"/>
            <a:ext cx="123444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057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5,525  (14.95%)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834640"/>
            <a:ext cx="1828800" cy="320040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85.1% dropped off here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32918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420624" cy="6400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1,894  (5.13%)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069080"/>
            <a:ext cx="1828800" cy="320040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65.5% cart abandonment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749040"/>
            <a:ext cx="8686800" cy="11887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view-to-cart drop is the biggest revenue leak. 31,424 users viewed products but never carted. Fixing this single step from 14.85% to 20% would add ~600 purchases and ~$173K revenue with zero extra ad spend.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GOING WRONG?  —  3 CRITICAL PROBLEMS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868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85.1% View-to-Cart Drop-off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31,424 users viewed products but never carted. Product pages are failing to convert.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Better images, social proof, prominent CTA, customer reviews.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Improving to 20% view-to-cart adds ~$173K revenue.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167128"/>
            <a:ext cx="8595360" cy="12344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58568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2585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65.5% Cart Abandonment 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6243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3,588 users added to cart but didn't complete purchase.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cause: Surprise shipping costs, lengthy checkout, no guest option.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3-touch cart email (1hr/24hr/72hr), show shipping upfront.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557016"/>
            <a:ext cx="8595360" cy="1234440"/>
          </a:xfrm>
          <a:prstGeom prst="rect">
            <a:avLst/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48456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364845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82.2% One-Time Buyer 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014216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339 of 1,894 buyers (17.85%) ever returned to purchase again.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post-purchase retention strategy in place.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Loyalty program, post-purchase email sequence, personalised recs.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CATEGORY PERFORMANCE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3152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USER SEGMENTATION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7772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777240"/>
            <a:ext cx="91440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8229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37,287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0" y="822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Users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7830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783080"/>
            <a:ext cx="91440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8580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Buyers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78892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788920"/>
            <a:ext cx="91440" cy="82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858000" y="2834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Buyers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37947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3794760"/>
            <a:ext cx="91440" cy="82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840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85800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54880" y="4663440"/>
            <a:ext cx="3931920" cy="36576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Post-purchase email + loyalty = 25%+ repeat rate target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RECOMMENDATIONS — PRIORITIZED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731520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640080" cy="7315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7955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[This Week]  A/B test product page CTAs + add customer review counts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13385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+3-5pp view-to-cart lift → +$50K-80K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600200"/>
            <a:ext cx="8778240" cy="7315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600200"/>
            <a:ext cx="640080" cy="7315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600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6459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[This Sprint]  Cart abandonment email sequence: 1hr / 24hr / 72hr + upfront shipping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842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recover 15-20% abandoned carts → +$30K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450592"/>
            <a:ext cx="8778240" cy="7315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450592"/>
            <a:ext cx="640080" cy="7315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4505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49631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[This Sprint]  Simplify checkout: remove steps, add guest checkout, progress bar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8346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-10pp cart abandonment → +$20K revenue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300984"/>
            <a:ext cx="8778240" cy="7315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300984"/>
            <a:ext cx="640080" cy="7315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330098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34670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[Next Month]  Post-purchase email + loyalty points program launch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850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repeat rate 17.9% → 25%+ → compounding LTV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4151376"/>
            <a:ext cx="8778240" cy="7315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151376"/>
            <a:ext cx="640080" cy="7315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15137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19709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[This Quarter]  Diversify product categories — reduce construction tools concentration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5354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construction.tools = 68.2% of revenue. One category risk is critical.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biggest opportunity is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view-to-cart drop-off.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8229600" cy="3657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697480"/>
            <a:ext cx="137160" cy="1371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85.1% of viewers never add to cart — the largest single revenue leak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37160" cy="1371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view-to-cart from 14.85% to 20% adds ~$173K with zero extra marketing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37160" cy="1371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Cart-to-purchase (34.55%) is already above industry average — protect this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137160" cy="1371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at 17.9% is the second priority — loyalty program needed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137160" cy="1371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5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 5.13% overall conversion — every initiative must move this number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Kaggle Ecommerce Behavior Dataset  |  Tool: Power BI Desktop  |  Feb 2020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Growth &amp; Conversion Dashboard</dc:title>
  <dc:subject>PptxGenJS Presentation</dc:subject>
  <dc:creator>PptxGenJS</dc:creator>
  <cp:lastModifiedBy>PptxGenJS</cp:lastModifiedBy>
  <cp:revision>1</cp:revision>
  <dcterms:created xsi:type="dcterms:W3CDTF">2026-04-19T05:37:36Z</dcterms:created>
  <dcterms:modified xsi:type="dcterms:W3CDTF">2026-04-19T05:37:36Z</dcterms:modified>
</cp:coreProperties>
</file>